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embeddedFontLst>
    <p:embeddedFont>
      <p:font typeface="Spectral"/>
      <p:regular r:id="rId21"/>
      <p:bold r:id="rId22"/>
      <p:italic r:id="rId23"/>
      <p:boldItalic r:id="rId24"/>
    </p:embeddedFont>
    <p:embeddedFont>
      <p:font typeface="Spectral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8A1AC7C-9790-4071-A5D4-B73E37BE1E29}">
  <a:tblStyle styleId="{88A1AC7C-9790-4071-A5D4-B73E37BE1E2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Spectral-bold.fntdata"/><Relationship Id="rId21" Type="http://schemas.openxmlformats.org/officeDocument/2006/relationships/font" Target="fonts/Spectral-regular.fntdata"/><Relationship Id="rId24" Type="http://schemas.openxmlformats.org/officeDocument/2006/relationships/font" Target="fonts/Spectral-boldItalic.fntdata"/><Relationship Id="rId23" Type="http://schemas.openxmlformats.org/officeDocument/2006/relationships/font" Target="fonts/Spectral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SpectralExtraBold-boldItalic.fntdata"/><Relationship Id="rId25" Type="http://schemas.openxmlformats.org/officeDocument/2006/relationships/font" Target="fonts/SpectralExtraBold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5d9fdfda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e5d9fdfda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e5d9fdfda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e5d9fdfda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73123c2c1_2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73123c2c1_2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336103da8b271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3336103da8b27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85404661a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85404661a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85404661a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e85404661a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85404661a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e85404661a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e85404661a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e85404661a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85404661a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e85404661a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e85404661a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e85404661a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85404661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e85404661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8a2c68c72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e8a2c68c72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e8a2c68c72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e8a2c68c72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e8a2c68c7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e8a2c68c7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slow">
    <p:push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4825" y="1316100"/>
            <a:ext cx="6117300" cy="18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6AA84F"/>
                </a:solidFill>
                <a:latin typeface="Spectral ExtraBold"/>
                <a:ea typeface="Spectral ExtraBold"/>
                <a:cs typeface="Spectral ExtraBold"/>
                <a:sym typeface="Spectral ExtraBold"/>
              </a:rPr>
              <a:t>Retail Banking Analytics:</a:t>
            </a:r>
            <a:endParaRPr sz="1800">
              <a:solidFill>
                <a:srgbClr val="6AA84F"/>
              </a:solidFill>
              <a:latin typeface="Spectral ExtraBold"/>
              <a:ea typeface="Spectral ExtraBold"/>
              <a:cs typeface="Spectral ExtraBold"/>
              <a:sym typeface="Spectral ExtraBo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6AA84F"/>
                </a:solidFill>
                <a:latin typeface="Spectral ExtraBold"/>
                <a:ea typeface="Spectral ExtraBold"/>
                <a:cs typeface="Spectral ExtraBold"/>
                <a:sym typeface="Spectral ExtraBold"/>
              </a:rPr>
              <a:t>From Fragmented Data to</a:t>
            </a:r>
            <a:endParaRPr sz="1800">
              <a:solidFill>
                <a:srgbClr val="6AA84F"/>
              </a:solidFill>
              <a:latin typeface="Spectral ExtraBold"/>
              <a:ea typeface="Spectral ExtraBold"/>
              <a:cs typeface="Spectral ExtraBold"/>
              <a:sym typeface="Spectral ExtraBo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6AA84F"/>
                </a:solidFill>
                <a:latin typeface="Spectral ExtraBold"/>
                <a:ea typeface="Spectral ExtraBold"/>
                <a:cs typeface="Spectral ExtraBold"/>
                <a:sym typeface="Spectral ExtraBold"/>
              </a:rPr>
              <a:t>Actionable Insights</a:t>
            </a:r>
            <a:endParaRPr sz="1800">
              <a:solidFill>
                <a:srgbClr val="6AA84F"/>
              </a:solidFill>
              <a:latin typeface="Spectral ExtraBold"/>
              <a:ea typeface="Spectral ExtraBold"/>
              <a:cs typeface="Spectral ExtraBold"/>
              <a:sym typeface="Spectral ExtraBo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6AA84F"/>
              </a:solidFill>
              <a:latin typeface="Spectral ExtraBold"/>
              <a:ea typeface="Spectral ExtraBold"/>
              <a:cs typeface="Spectral ExtraBold"/>
              <a:sym typeface="Spectral ExtraBo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Stella Babayemi | June 2025</a:t>
            </a:r>
            <a:endParaRPr b="1"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SQL | Excel | Notion | Draw.io</a:t>
            </a:r>
            <a:endParaRPr b="1"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27050" y="327850"/>
            <a:ext cx="89703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Problem Statement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104300" y="1403400"/>
            <a:ext cx="8952900" cy="6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Retail banks sit on enormous amounts of data, but fragmentation across systems creates blind spots that cost money and increase risk.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" name="Google Shape;61;p14"/>
          <p:cNvSpPr/>
          <p:nvPr/>
        </p:nvSpPr>
        <p:spPr>
          <a:xfrm>
            <a:off x="165875" y="2394950"/>
            <a:ext cx="2802300" cy="1222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4"/>
          <p:cNvSpPr/>
          <p:nvPr/>
        </p:nvSpPr>
        <p:spPr>
          <a:xfrm>
            <a:off x="3111050" y="2394950"/>
            <a:ext cx="2802300" cy="1222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/>
          <p:nvPr/>
        </p:nvSpPr>
        <p:spPr>
          <a:xfrm>
            <a:off x="6056225" y="2394950"/>
            <a:ext cx="2802300" cy="1222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4"/>
          <p:cNvSpPr txBox="1"/>
          <p:nvPr/>
        </p:nvSpPr>
        <p:spPr>
          <a:xfrm>
            <a:off x="165950" y="2846100"/>
            <a:ext cx="2802300" cy="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Limited Visibility</a:t>
            </a:r>
            <a:endParaRPr b="1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unified view of customer behavior across products and segments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450" y="2480998"/>
            <a:ext cx="365100" cy="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/>
        </p:nvSpPr>
        <p:spPr>
          <a:xfrm>
            <a:off x="3090600" y="2846100"/>
            <a:ext cx="2822700" cy="7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Hidden loan risk</a:t>
            </a:r>
            <a:endParaRPr b="1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Exposure to default risk is scattered and not consolidated for review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77150" y="2481000"/>
            <a:ext cx="365100" cy="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4"/>
          <p:cNvSpPr txBox="1"/>
          <p:nvPr/>
        </p:nvSpPr>
        <p:spPr>
          <a:xfrm>
            <a:off x="6056225" y="2846275"/>
            <a:ext cx="2802300" cy="7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Poor product insight</a:t>
            </a:r>
            <a:endParaRPr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clear view of which products drive value across customer segments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9" name="Google Shape;69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96850" y="2481000"/>
            <a:ext cx="365100" cy="36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/>
        </p:nvSpPr>
        <p:spPr>
          <a:xfrm>
            <a:off x="86850" y="130725"/>
            <a:ext cx="89703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Objective &amp; Analytical Approach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311700" y="692025"/>
            <a:ext cx="3999900" cy="41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b="1" sz="18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Analyze customer demographics and account behavior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Evaluate loan portfolio performance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Monitor transaction activity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Assess card usage trends 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Generate actionable business insights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6" name="Google Shape;76;p15"/>
          <p:cNvSpPr txBox="1"/>
          <p:nvPr>
            <p:ph idx="2" type="body"/>
          </p:nvPr>
        </p:nvSpPr>
        <p:spPr>
          <a:xfrm>
            <a:off x="4311600" y="692025"/>
            <a:ext cx="4520700" cy="41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Analytical Approach</a:t>
            </a:r>
            <a:endParaRPr b="1" sz="18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6AA84F"/>
              </a:solidFill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5146825" y="1328200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Raw Data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5146788" y="1929283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Preparation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(Cleaning | Validation | Transformation)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5146825" y="2528663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Enrichment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(Standardization | Generated Fields)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0" name="Google Shape;80;p15"/>
          <p:cNvSpPr/>
          <p:nvPr/>
        </p:nvSpPr>
        <p:spPr>
          <a:xfrm>
            <a:off x="5146825" y="3729126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Dashboard Development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(Excel)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5146825" y="4325100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Business Insights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&amp; Recommendations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5146825" y="3128894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Analysis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(SQL Queries | KPI Development)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6484800" y="1794325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5"/>
          <p:cNvSpPr/>
          <p:nvPr/>
        </p:nvSpPr>
        <p:spPr>
          <a:xfrm>
            <a:off x="6484800" y="2393275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6484800" y="2992250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6484800" y="3589713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5"/>
          <p:cNvSpPr/>
          <p:nvPr/>
        </p:nvSpPr>
        <p:spPr>
          <a:xfrm>
            <a:off x="6484800" y="4199725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/>
        </p:nvSpPr>
        <p:spPr>
          <a:xfrm>
            <a:off x="86850" y="145150"/>
            <a:ext cx="8970300" cy="4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Dataset Overview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93" name="Google Shape;93;p16" title="RBA_ERD_W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4650" y="876350"/>
            <a:ext cx="3942501" cy="394250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4" name="Google Shape;94;p16"/>
          <p:cNvGraphicFramePr/>
          <p:nvPr/>
        </p:nvGraphicFramePr>
        <p:xfrm>
          <a:off x="312875" y="1923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{88A1AC7C-9790-4071-A5D4-B73E37BE1E29}</a:tableStyleId>
              </a:tblPr>
              <a:tblGrid>
                <a:gridCol w="1314175"/>
                <a:gridCol w="1314175"/>
                <a:gridCol w="1314175"/>
              </a:tblGrid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Tables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Rows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Description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 details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75,000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 information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 details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Loans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30,000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Loan records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Merchants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Merchant details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Transactions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1,000,000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Transaction history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95" name="Google Shape;95;p16"/>
          <p:cNvSpPr txBox="1"/>
          <p:nvPr/>
        </p:nvSpPr>
        <p:spPr>
          <a:xfrm>
            <a:off x="86850" y="730950"/>
            <a:ext cx="4931100" cy="9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project uses a synthetic retail banking dataset (2019-2025) sourced from Kaggle, comprising six tables used for analysis: customers, accounts, cards, loans, transactions, and merchants plus a standalone branches table which was excluded as it contained no foreign key relationship to the rest of the data. 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/>
          <p:nvPr/>
        </p:nvSpPr>
        <p:spPr>
          <a:xfrm>
            <a:off x="-75" y="161275"/>
            <a:ext cx="914400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Data Cleaning Summary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graphicFrame>
        <p:nvGraphicFramePr>
          <p:cNvPr id="101" name="Google Shape;101;p17"/>
          <p:cNvGraphicFramePr/>
          <p:nvPr/>
        </p:nvGraphicFramePr>
        <p:xfrm>
          <a:off x="1539275" y="97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{88A1AC7C-9790-4071-A5D4-B73E37BE1E29}</a:tableStyleId>
              </a:tblPr>
              <a:tblGrid>
                <a:gridCol w="1498825"/>
                <a:gridCol w="1498825"/>
                <a:gridCol w="1498825"/>
                <a:gridCol w="1568975"/>
              </a:tblGrid>
              <a:tr h="411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Table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Issues found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Action taken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Staging table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40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40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40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518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Loans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15,069 pre-creation records (50.24%)</a:t>
                      </a:r>
                      <a:endParaRPr sz="1000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Excluded invalid records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loans_staging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518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Merchants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merchants_staging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518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Transactions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406,259 pre-account records (40.63%)</a:t>
                      </a:r>
                      <a:endParaRPr sz="1000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Excluded invalid records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transactions_staging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/>
        </p:nvSpPr>
        <p:spPr>
          <a:xfrm>
            <a:off x="86850" y="200300"/>
            <a:ext cx="89703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Data Quality Assessment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107" name="Google Shape;107;p18"/>
          <p:cNvSpPr txBox="1"/>
          <p:nvPr>
            <p:ph idx="1" type="body"/>
          </p:nvPr>
        </p:nvSpPr>
        <p:spPr>
          <a:xfrm>
            <a:off x="305325" y="761600"/>
            <a:ext cx="4215600" cy="380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08" name="Google Shape;108;p18"/>
          <p:cNvSpPr txBox="1"/>
          <p:nvPr>
            <p:ph idx="2" type="body"/>
          </p:nvPr>
        </p:nvSpPr>
        <p:spPr>
          <a:xfrm>
            <a:off x="4572000" y="761575"/>
            <a:ext cx="3250800" cy="380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8"/>
          <p:cNvSpPr/>
          <p:nvPr/>
        </p:nvSpPr>
        <p:spPr>
          <a:xfrm>
            <a:off x="486750" y="973500"/>
            <a:ext cx="3841800" cy="15981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8"/>
          <p:cNvSpPr/>
          <p:nvPr/>
        </p:nvSpPr>
        <p:spPr>
          <a:xfrm>
            <a:off x="486750" y="2783500"/>
            <a:ext cx="3841800" cy="15981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8"/>
          <p:cNvSpPr txBox="1"/>
          <p:nvPr/>
        </p:nvSpPr>
        <p:spPr>
          <a:xfrm>
            <a:off x="486650" y="952675"/>
            <a:ext cx="38418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1"/>
                </a:solidFill>
              </a:rPr>
              <a:t>TRANSACTIONS</a:t>
            </a:r>
            <a:r>
              <a:rPr lang="en" sz="1000">
                <a:solidFill>
                  <a:schemeClr val="accent1"/>
                </a:solidFill>
              </a:rPr>
              <a:t> - before account creation</a:t>
            </a:r>
            <a:endParaRPr sz="1000">
              <a:solidFill>
                <a:schemeClr val="accen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0C070"/>
                </a:solidFill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(*)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total_transactions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transactions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),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0C070"/>
                </a:solidFill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(*)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invalid_transactions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transactions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JOIN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accounts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a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t.account_id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= a.account_id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WHERE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t.transaction_date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a.open_date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invalid_transactions,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invalid_transactions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100.0 / total_transactions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invalid_percentage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9700" marR="13970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CROSS JOIN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totals;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2"/>
              </a:solidFill>
            </a:endParaRPr>
          </a:p>
        </p:txBody>
      </p:sp>
      <p:sp>
        <p:nvSpPr>
          <p:cNvPr id="112" name="Google Shape;112;p18"/>
          <p:cNvSpPr txBox="1"/>
          <p:nvPr/>
        </p:nvSpPr>
        <p:spPr>
          <a:xfrm>
            <a:off x="486600" y="2783500"/>
            <a:ext cx="38418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1"/>
                </a:solidFill>
              </a:rPr>
              <a:t>LOANS</a:t>
            </a:r>
            <a:r>
              <a:rPr lang="en" sz="1000">
                <a:solidFill>
                  <a:schemeClr val="accent1"/>
                </a:solidFill>
              </a:rPr>
              <a:t> - before customer creation</a:t>
            </a:r>
            <a:endParaRPr sz="1000">
              <a:solidFill>
                <a:schemeClr val="accen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0C070"/>
                </a:solidFill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(*)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total_loans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loans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),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0C070"/>
                </a:solidFill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(*)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invalid_loans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loans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JOIN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customers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l.customer_id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c.customer_id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WHERE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l.start_date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c.created_at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invalid_loans,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invalid_loans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100.0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total_loans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invalid_percentage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CROSS JOIN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totals;</a:t>
            </a:r>
            <a:endParaRPr sz="1000">
              <a:solidFill>
                <a:schemeClr val="lt2"/>
              </a:solidFill>
            </a:endParaRPr>
          </a:p>
        </p:txBody>
      </p:sp>
      <p:sp>
        <p:nvSpPr>
          <p:cNvPr id="113" name="Google Shape;113;p18"/>
          <p:cNvSpPr/>
          <p:nvPr/>
        </p:nvSpPr>
        <p:spPr>
          <a:xfrm>
            <a:off x="4685525" y="1059975"/>
            <a:ext cx="1363200" cy="561300"/>
          </a:xfrm>
          <a:prstGeom prst="roundRect">
            <a:avLst>
              <a:gd fmla="val 1898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14" name="Google Shape;114;p18"/>
          <p:cNvSpPr/>
          <p:nvPr/>
        </p:nvSpPr>
        <p:spPr>
          <a:xfrm>
            <a:off x="4719725" y="2378625"/>
            <a:ext cx="2764800" cy="1041300"/>
          </a:xfrm>
          <a:prstGeom prst="roundRect">
            <a:avLst>
              <a:gd fmla="val 6154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8"/>
          <p:cNvSpPr/>
          <p:nvPr/>
        </p:nvSpPr>
        <p:spPr>
          <a:xfrm>
            <a:off x="4703525" y="3517950"/>
            <a:ext cx="2764800" cy="747000"/>
          </a:xfrm>
          <a:prstGeom prst="roundRect">
            <a:avLst>
              <a:gd fmla="val 1666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8"/>
          <p:cNvSpPr/>
          <p:nvPr/>
        </p:nvSpPr>
        <p:spPr>
          <a:xfrm>
            <a:off x="6112750" y="1059975"/>
            <a:ext cx="1363200" cy="561300"/>
          </a:xfrm>
          <a:prstGeom prst="roundRect">
            <a:avLst>
              <a:gd fmla="val 1898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4685521" y="1719300"/>
            <a:ext cx="1337700" cy="516000"/>
          </a:xfrm>
          <a:prstGeom prst="roundRect">
            <a:avLst>
              <a:gd fmla="val 1898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18" name="Google Shape;118;p18"/>
          <p:cNvSpPr/>
          <p:nvPr/>
        </p:nvSpPr>
        <p:spPr>
          <a:xfrm>
            <a:off x="6112746" y="1719300"/>
            <a:ext cx="1363200" cy="561300"/>
          </a:xfrm>
          <a:prstGeom prst="roundRect">
            <a:avLst>
              <a:gd fmla="val 1898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19" name="Google Shape;119;p18"/>
          <p:cNvSpPr txBox="1"/>
          <p:nvPr/>
        </p:nvSpPr>
        <p:spPr>
          <a:xfrm>
            <a:off x="4711075" y="1059975"/>
            <a:ext cx="13377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1,000,000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Total transactions</a:t>
            </a:r>
            <a:endParaRPr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6132900" y="1082625"/>
            <a:ext cx="13107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406,259</a:t>
            </a:r>
            <a:endParaRPr b="1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Invalid - 40.63%</a:t>
            </a:r>
            <a:endParaRPr b="1"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1" name="Google Shape;121;p18"/>
          <p:cNvSpPr txBox="1"/>
          <p:nvPr/>
        </p:nvSpPr>
        <p:spPr>
          <a:xfrm>
            <a:off x="6132900" y="1719300"/>
            <a:ext cx="13107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15,069</a:t>
            </a:r>
            <a:endParaRPr b="1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Invalid - 50.24%</a:t>
            </a:r>
            <a:endParaRPr b="1"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8"/>
          <p:cNvSpPr txBox="1"/>
          <p:nvPr/>
        </p:nvSpPr>
        <p:spPr>
          <a:xfrm>
            <a:off x="4698275" y="1719300"/>
            <a:ext cx="13632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30,000</a:t>
            </a:r>
            <a:endParaRPr>
              <a:solidFill>
                <a:schemeClr val="accent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Total loans</a:t>
            </a:r>
            <a:endParaRPr sz="1000">
              <a:solidFill>
                <a:schemeClr val="accent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3" name="Google Shape;123;p18"/>
          <p:cNvSpPr txBox="1"/>
          <p:nvPr/>
        </p:nvSpPr>
        <p:spPr>
          <a:xfrm>
            <a:off x="4728275" y="2401275"/>
            <a:ext cx="2715300" cy="104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AFTER CLEANING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Valid Transactions - 593,741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Valid Loans - 14,931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4719725" y="3517950"/>
            <a:ext cx="2715300" cy="7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Business rule violation: transactions and loans predating account/customer creation. Raw tables retained for audit. All analysis uses cleaned datasets only.</a:t>
            </a:r>
            <a:endParaRPr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 txBox="1"/>
          <p:nvPr/>
        </p:nvSpPr>
        <p:spPr>
          <a:xfrm>
            <a:off x="121700" y="295525"/>
            <a:ext cx="89181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Feature Engineering &amp; Business Rules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graphicFrame>
        <p:nvGraphicFramePr>
          <p:cNvPr id="130" name="Google Shape;130;p19"/>
          <p:cNvGraphicFramePr/>
          <p:nvPr/>
        </p:nvGraphicFramePr>
        <p:xfrm>
          <a:off x="2167750" y="1421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{88A1AC7C-9790-4071-A5D4-B73E37BE1E29}</a:tableStyleId>
              </a:tblPr>
              <a:tblGrid>
                <a:gridCol w="2413000"/>
                <a:gridCol w="2413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Derived Fields</a:t>
                      </a:r>
                      <a:endParaRPr b="1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Field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Based on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Risk Category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Credit Score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 Type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 Tenure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Balance Category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 Balance 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 status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Expiration Date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/>
          <p:nvPr/>
        </p:nvSpPr>
        <p:spPr>
          <a:xfrm>
            <a:off x="57400" y="104300"/>
            <a:ext cx="9022800" cy="43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Executive Summary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136" name="Google Shape;136;p20" title="Screenshot 2026-06-06 at 00.20.4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3" y="768325"/>
            <a:ext cx="8190976" cy="41994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/>
          <p:nvPr/>
        </p:nvSpPr>
        <p:spPr>
          <a:xfrm>
            <a:off x="51025" y="70150"/>
            <a:ext cx="9029100" cy="42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Customers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142" name="Google Shape;142;p21" title="Screenshot 2026-06-06 at 00.21.1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7613" y="710050"/>
            <a:ext cx="7948774" cy="40442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2"/>
          <p:cNvSpPr txBox="1"/>
          <p:nvPr/>
        </p:nvSpPr>
        <p:spPr>
          <a:xfrm>
            <a:off x="38250" y="108400"/>
            <a:ext cx="9061200" cy="3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Loans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148" name="Google Shape;148;p22" title="Screenshot 2026-06-06 at 00.22.5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225" y="726100"/>
            <a:ext cx="8009549" cy="40986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/>
        </p:nvSpPr>
        <p:spPr>
          <a:xfrm>
            <a:off x="104300" y="140275"/>
            <a:ext cx="893550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Transactions and Cards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154" name="Google Shape;154;p23" title="Screenshot 2026-06-06 at 13.14.0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9038" y="797300"/>
            <a:ext cx="7746028" cy="40810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/>
          <p:nvPr/>
        </p:nvSpPr>
        <p:spPr>
          <a:xfrm>
            <a:off x="191225" y="243375"/>
            <a:ext cx="8796300" cy="4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Overall Business Insights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160" name="Google Shape;160;p24"/>
          <p:cNvSpPr/>
          <p:nvPr/>
        </p:nvSpPr>
        <p:spPr>
          <a:xfrm>
            <a:off x="6735775" y="1057363"/>
            <a:ext cx="2312100" cy="15984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4"/>
          <p:cNvSpPr/>
          <p:nvPr/>
        </p:nvSpPr>
        <p:spPr>
          <a:xfrm>
            <a:off x="6735775" y="2760063"/>
            <a:ext cx="2312100" cy="15984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4"/>
          <p:cNvSpPr/>
          <p:nvPr/>
        </p:nvSpPr>
        <p:spPr>
          <a:xfrm>
            <a:off x="4310775" y="2760063"/>
            <a:ext cx="2312100" cy="15984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4"/>
          <p:cNvSpPr/>
          <p:nvPr/>
        </p:nvSpPr>
        <p:spPr>
          <a:xfrm>
            <a:off x="4310775" y="1057350"/>
            <a:ext cx="2312100" cy="15984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4"/>
          <p:cNvSpPr txBox="1"/>
          <p:nvPr/>
        </p:nvSpPr>
        <p:spPr>
          <a:xfrm>
            <a:off x="4310650" y="1057551"/>
            <a:ext cx="2312100" cy="15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CUSTOMER HEALTH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50K Customers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Strong customer retention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Stable acquisition trend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Mature customer base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5" name="Google Shape;165;p24"/>
          <p:cNvSpPr txBox="1"/>
          <p:nvPr/>
        </p:nvSpPr>
        <p:spPr>
          <a:xfrm>
            <a:off x="6735775" y="1057375"/>
            <a:ext cx="2312100" cy="15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CREDIT RISK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54.6% High-Risk Customers</a:t>
            </a:r>
            <a:endParaRPr b="1"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Largest customer segment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$2.24B loan portfolio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Elevated lending exposure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24"/>
          <p:cNvSpPr txBox="1"/>
          <p:nvPr/>
        </p:nvSpPr>
        <p:spPr>
          <a:xfrm>
            <a:off x="4310775" y="2760351"/>
            <a:ext cx="2312100" cy="15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DEPOSITS &amp; ACTIVITY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$7.1B Total Balances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Strong deposit base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$2.3B transaction value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Active customer engagement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7" name="Google Shape;167;p24"/>
          <p:cNvSpPr txBox="1"/>
          <p:nvPr/>
        </p:nvSpPr>
        <p:spPr>
          <a:xfrm>
            <a:off x="6735775" y="2760176"/>
            <a:ext cx="2312100" cy="15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CARD PORTFOLIO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100K Cards Issued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Balanced debit / credit mix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12.6K expired cards</a:t>
            </a:r>
            <a:endParaRPr b="1"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Renewal opportunity </a:t>
            </a: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identified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p24"/>
          <p:cNvSpPr/>
          <p:nvPr/>
        </p:nvSpPr>
        <p:spPr>
          <a:xfrm>
            <a:off x="191075" y="1057450"/>
            <a:ext cx="3946200" cy="33012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24"/>
          <p:cNvSpPr txBox="1"/>
          <p:nvPr/>
        </p:nvSpPr>
        <p:spPr>
          <a:xfrm>
            <a:off x="191075" y="1615500"/>
            <a:ext cx="3946200" cy="19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TAKEAWAY</a:t>
            </a:r>
            <a:endParaRPr b="1" sz="24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bank demonstrates strong customer engagement, deposit growth, and lending expansion. However, elevated credit risk exposure and expired card volume require proactive management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5"/>
          <p:cNvSpPr txBox="1"/>
          <p:nvPr/>
        </p:nvSpPr>
        <p:spPr>
          <a:xfrm>
            <a:off x="191225" y="243375"/>
            <a:ext cx="8796300" cy="4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Recommendations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graphicFrame>
        <p:nvGraphicFramePr>
          <p:cNvPr id="175" name="Google Shape;175;p25"/>
          <p:cNvGraphicFramePr/>
          <p:nvPr/>
        </p:nvGraphicFramePr>
        <p:xfrm>
          <a:off x="969875" y="1133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{88A1AC7C-9790-4071-A5D4-B73E37BE1E29}</a:tableStyleId>
              </a:tblPr>
              <a:tblGrid>
                <a:gridCol w="2413000"/>
                <a:gridCol w="2580650"/>
                <a:gridCol w="22453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</a:rPr>
                        <a:t>Priority</a:t>
                      </a:r>
                      <a:endParaRPr b="1"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</a:rPr>
                        <a:t>Recommendation</a:t>
                      </a:r>
                      <a:endParaRPr b="1"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</a:rPr>
                        <a:t>Business Impact</a:t>
                      </a:r>
                      <a:endParaRPr b="1"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High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Reduce High-Risk Exposure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Lower Credit Losses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High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Renew 12.6k Expired Cards 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Card Revenue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High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Product Adoption Among Existing Customers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Customer Lifetime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Medium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Grow Premium Customer Relationship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Deposits &amp; Lending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Medium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Expand in Top Cities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Improve Acquisition Efficiency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Medium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Strengthen Merchant Partnerships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Transaction Volume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76" name="Google Shape;176;p25"/>
          <p:cNvSpPr txBox="1"/>
          <p:nvPr/>
        </p:nvSpPr>
        <p:spPr>
          <a:xfrm>
            <a:off x="243375" y="4184550"/>
            <a:ext cx="8744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</a:rPr>
              <a:t>Prioritize three </a:t>
            </a:r>
            <a:r>
              <a:rPr lang="en" sz="1000">
                <a:solidFill>
                  <a:srgbClr val="6AA84F"/>
                </a:solidFill>
              </a:rPr>
              <a:t>immediate</a:t>
            </a:r>
            <a:r>
              <a:rPr lang="en" sz="1000">
                <a:solidFill>
                  <a:srgbClr val="6AA84F"/>
                </a:solidFill>
              </a:rPr>
              <a:t> actions: reduce high-risk loan exposure, renew expired cards and expand product adoption among existing customers. These initiatives address the bank’s largest risk area while </a:t>
            </a:r>
            <a:r>
              <a:rPr lang="en" sz="1000">
                <a:solidFill>
                  <a:srgbClr val="6AA84F"/>
                </a:solidFill>
              </a:rPr>
              <a:t>leveraging</a:t>
            </a:r>
            <a:r>
              <a:rPr lang="en" sz="1000">
                <a:solidFill>
                  <a:srgbClr val="6AA84F"/>
                </a:solidFill>
              </a:rPr>
              <a:t> its strongest assets</a:t>
            </a:r>
            <a:endParaRPr sz="1000">
              <a:solidFill>
                <a:srgbClr val="6AA84F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 txBox="1"/>
          <p:nvPr/>
        </p:nvSpPr>
        <p:spPr>
          <a:xfrm>
            <a:off x="1384950" y="1005000"/>
            <a:ext cx="6374100" cy="3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6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THANK</a:t>
            </a:r>
            <a:endParaRPr b="1" sz="96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6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YOU</a:t>
            </a:r>
            <a:endParaRPr b="1" sz="96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